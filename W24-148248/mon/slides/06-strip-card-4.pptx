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0287000" cy="1285875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1EC"/>
        </a:solidFill>
        <a:effectLst/>
      </p:bgPr>
    </p:bg>
    <p:spTree>
      <p:nvGrpSpPr>
        <p:cNvPr id="1" name=""/>
        <p:cNvGrpSpPr/>
        <p:nvPr/>
      </p:nvGrpSpPr>
      <p:grpSpPr/>
      <p:pic>
        <p:nvPicPr>
          <p:cNvPr id="2" name="Picture 1" descr="laurène-dom-obj-1780845322.png"/>
          <p:cNvPicPr>
            <a:picLocks noChangeAspect="1"/>
          </p:cNvPicPr>
          <p:nvPr/>
        </p:nvPicPr>
        <p:blipFill>
          <a:blip r:embed="rId2"/>
          <a:stretch>
            <a:fillRect/>
          </a:stretch>
        </p:blipFill>
        <p:spPr>
          <a:xfrm>
            <a:off x="0" y="0"/>
            <a:ext cx="10287000" cy="3619500"/>
          </a:xfrm>
          <a:prstGeom prst="rect">
            <a:avLst/>
          </a:prstGeom>
        </p:spPr>
      </p:pic>
      <p:sp>
        <p:nvSpPr>
          <p:cNvPr id="3" name="TextBox 2"/>
          <p:cNvSpPr txBox="1"/>
          <p:nvPr/>
        </p:nvSpPr>
        <p:spPr>
          <a:xfrm>
            <a:off x="609600" y="762000"/>
            <a:ext cx="8572500" cy="285750"/>
          </a:xfrm>
          <a:prstGeom prst="rect">
            <a:avLst/>
          </a:prstGeom>
          <a:noFill/>
        </p:spPr>
        <p:txBody>
          <a:bodyPr wrap="square" lIns="0" rIns="0" tIns="0" bIns="0">
            <a:spAutoFit/>
          </a:bodyPr>
          <a:lstStyle/>
          <a:p>
            <a:r>
              <a:rPr sz="1000" b="1" i="0">
                <a:solidFill>
                  <a:srgbClr val="F5F1EC"/>
                </a:solidFill>
                <a:latin typeface="PT Serif"/>
              </a:rPr>
              <a:t>33304 — APRIL 2026</a:t>
            </a:r>
          </a:p>
        </p:txBody>
      </p:sp>
      <p:sp>
        <p:nvSpPr>
          <p:cNvPr id="4" name="TextBox 3"/>
          <p:cNvSpPr txBox="1"/>
          <p:nvPr/>
        </p:nvSpPr>
        <p:spPr>
          <a:xfrm>
            <a:off x="8724900" y="4000500"/>
            <a:ext cx="952500" cy="762000"/>
          </a:xfrm>
          <a:prstGeom prst="rect">
            <a:avLst/>
          </a:prstGeom>
          <a:noFill/>
        </p:spPr>
        <p:txBody>
          <a:bodyPr wrap="square" lIns="0" rIns="0" tIns="0" bIns="0">
            <a:spAutoFit/>
          </a:bodyPr>
          <a:lstStyle/>
          <a:p>
            <a:pPr algn="r"/>
            <a:r>
              <a:rPr sz="6000" b="0" i="0">
                <a:solidFill>
                  <a:srgbClr val="C99A6C"/>
                </a:solidFill>
                <a:latin typeface="Pinyon Script"/>
              </a:rPr>
              <a:t>4</a:t>
            </a:r>
          </a:p>
        </p:txBody>
      </p:sp>
      <p:sp>
        <p:nvSpPr>
          <p:cNvPr id="5" name="TextBox 4"/>
          <p:cNvSpPr txBox="1"/>
          <p:nvPr/>
        </p:nvSpPr>
        <p:spPr>
          <a:xfrm>
            <a:off x="609600" y="4381500"/>
            <a:ext cx="5715000" cy="190500"/>
          </a:xfrm>
          <a:prstGeom prst="rect">
            <a:avLst/>
          </a:prstGeom>
          <a:noFill/>
        </p:spPr>
        <p:txBody>
          <a:bodyPr wrap="square" lIns="0" rIns="0" tIns="0" bIns="0">
            <a:spAutoFit/>
          </a:bodyPr>
          <a:lstStyle/>
          <a:p>
            <a:r>
              <a:rPr sz="900" b="1" i="0">
                <a:solidFill>
                  <a:srgbClr val="9F8E87"/>
                </a:solidFill>
                <a:latin typeface="PT Serif"/>
              </a:rPr>
              <a:t>WHAT THEY SAY</a:t>
            </a:r>
          </a:p>
        </p:txBody>
      </p:sp>
      <p:sp>
        <p:nvSpPr>
          <p:cNvPr id="6" name="TextBox 5"/>
          <p:cNvSpPr txBox="1"/>
          <p:nvPr/>
        </p:nvSpPr>
        <p:spPr>
          <a:xfrm>
            <a:off x="609600" y="4762500"/>
            <a:ext cx="9067800" cy="1905000"/>
          </a:xfrm>
          <a:prstGeom prst="rect">
            <a:avLst/>
          </a:prstGeom>
          <a:noFill/>
        </p:spPr>
        <p:txBody>
          <a:bodyPr wrap="square" lIns="0" rIns="0" tIns="0" bIns="0">
            <a:spAutoFit/>
          </a:bodyPr>
          <a:lstStyle/>
          <a:p>
            <a:pPr>
              <a:lnSpc>
                <a:spcPct val="110000"/>
              </a:lnSpc>
            </a:pPr>
            <a:r>
              <a:rPr sz="3600" b="1" i="1">
                <a:solidFill>
                  <a:srgbClr val="1C1310"/>
                </a:solidFill>
                <a:latin typeface="Playfair Display"/>
              </a:rPr>
              <a:t>"Days on market at 138 days is long — that means bargaining power."</a:t>
            </a:r>
          </a:p>
        </p:txBody>
      </p:sp>
      <p:sp>
        <p:nvSpPr>
          <p:cNvPr id="7" name="TextBox 6"/>
          <p:cNvSpPr txBox="1"/>
          <p:nvPr/>
        </p:nvSpPr>
        <p:spPr>
          <a:xfrm>
            <a:off x="609600" y="7048500"/>
            <a:ext cx="5715000" cy="190500"/>
          </a:xfrm>
          <a:prstGeom prst="rect">
            <a:avLst/>
          </a:prstGeom>
          <a:noFill/>
        </p:spPr>
        <p:txBody>
          <a:bodyPr wrap="square" lIns="0" rIns="0" tIns="0" bIns="0">
            <a:spAutoFit/>
          </a:bodyPr>
          <a:lstStyle/>
          <a:p>
            <a:r>
              <a:rPr sz="900" b="1" i="0">
                <a:solidFill>
                  <a:srgbClr val="540918"/>
                </a:solidFill>
                <a:latin typeface="PT Serif"/>
              </a:rPr>
              <a:t>WHAT IT USUALLY MEANS</a:t>
            </a:r>
          </a:p>
        </p:txBody>
      </p:sp>
      <p:sp>
        <p:nvSpPr>
          <p:cNvPr id="8" name="TextBox 7"/>
          <p:cNvSpPr txBox="1"/>
          <p:nvPr/>
        </p:nvSpPr>
        <p:spPr>
          <a:xfrm>
            <a:off x="609600" y="7429500"/>
            <a:ext cx="9067800" cy="1905000"/>
          </a:xfrm>
          <a:prstGeom prst="rect">
            <a:avLst/>
          </a:prstGeom>
          <a:noFill/>
        </p:spPr>
        <p:txBody>
          <a:bodyPr wrap="square" lIns="0" rIns="0" tIns="0" bIns="0">
            <a:spAutoFit/>
          </a:bodyPr>
          <a:lstStyle/>
          <a:p>
            <a:pPr>
              <a:lnSpc>
                <a:spcPct val="118000"/>
              </a:lnSpc>
            </a:pPr>
            <a:r>
              <a:rPr sz="2800" b="1" i="0">
                <a:solidFill>
                  <a:srgbClr val="1C1310"/>
                </a:solidFill>
                <a:latin typeface="Playfair Display"/>
              </a:rPr>
              <a:t>DOM is long across all of Tier 1 right now. This is a </a:t>
            </a:r>
            <a:r>
              <a:rPr sz="2800" b="1" i="1">
                <a:solidFill>
                  <a:srgbClr val="540918"/>
                </a:solidFill>
                <a:latin typeface="Playfair Display"/>
              </a:rPr>
              <a:t>market condition</a:t>
            </a:r>
            <a:r>
              <a:rPr sz="2800" b="1" i="0">
                <a:solidFill>
                  <a:srgbClr val="1C1310"/>
                </a:solidFill>
                <a:latin typeface="Playfair Display"/>
              </a:rPr>
              <a:t>, not a seller signal.</a:t>
            </a:r>
          </a:p>
        </p:txBody>
      </p:sp>
      <p:sp>
        <p:nvSpPr>
          <p:cNvPr id="9" name="TextBox 8"/>
          <p:cNvSpPr txBox="1"/>
          <p:nvPr/>
        </p:nvSpPr>
        <p:spPr>
          <a:xfrm>
            <a:off x="609600" y="9525000"/>
            <a:ext cx="5715000" cy="190500"/>
          </a:xfrm>
          <a:prstGeom prst="rect">
            <a:avLst/>
          </a:prstGeom>
          <a:noFill/>
        </p:spPr>
        <p:txBody>
          <a:bodyPr wrap="square" lIns="0" rIns="0" tIns="0" bIns="0">
            <a:spAutoFit/>
          </a:bodyPr>
          <a:lstStyle/>
          <a:p>
            <a:r>
              <a:rPr sz="900" b="1" i="0">
                <a:solidFill>
                  <a:srgbClr val="540918"/>
                </a:solidFill>
                <a:latin typeface="PT Serif"/>
              </a:rPr>
              <a:t>HOW I'D ANSWER IT</a:t>
            </a:r>
          </a:p>
        </p:txBody>
      </p:sp>
      <p:sp>
        <p:nvSpPr>
          <p:cNvPr id="10" name="TextBox 9"/>
          <p:cNvSpPr txBox="1"/>
          <p:nvPr/>
        </p:nvSpPr>
        <p:spPr>
          <a:xfrm>
            <a:off x="609600" y="9906000"/>
            <a:ext cx="9067800" cy="2667000"/>
          </a:xfrm>
          <a:prstGeom prst="rect">
            <a:avLst/>
          </a:prstGeom>
          <a:noFill/>
        </p:spPr>
        <p:txBody>
          <a:bodyPr wrap="square" lIns="0" rIns="0" tIns="0" bIns="0">
            <a:spAutoFit/>
          </a:bodyPr>
          <a:lstStyle/>
          <a:p>
            <a:pPr>
              <a:lnSpc>
                <a:spcPct val="145000"/>
              </a:lnSpc>
            </a:pPr>
            <a:r>
              <a:rPr sz="1600" b="0" i="0">
                <a:solidFill>
                  <a:srgbClr val="1C1310"/>
                </a:solidFill>
                <a:latin typeface="PT Serif"/>
              </a:rPr>
              <a:t>33304 DOM: 138 days. Compare: 33305 (133 days), 33306 (similar range), 33308 and 33316
broadly in the 101–143 day band. Extended DOM reflects the current rate environment and
buyer caution, not individual seller desperation. On homes where supply is actively contracting,
prolonged DOM can flip quickly when the next rate move arrives.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