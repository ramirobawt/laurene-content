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0287000" cy="1285875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5F1EC"/>
        </a:solidFill>
        <a:effectLst/>
      </p:bgPr>
    </p:bg>
    <p:spTree>
      <p:nvGrpSpPr>
        <p:cNvPr id="1" name=""/>
        <p:cNvGrpSpPr/>
        <p:nvPr/>
      </p:nvGrpSpPr>
      <p:grpSpPr/>
      <p:pic>
        <p:nvPicPr>
          <p:cNvPr id="2" name="Picture 1" descr="mortgage-rates-objection-20250607.png"/>
          <p:cNvPicPr>
            <a:picLocks noChangeAspect="1"/>
          </p:cNvPicPr>
          <p:nvPr/>
        </p:nvPicPr>
        <p:blipFill>
          <a:blip r:embed="rId2"/>
          <a:stretch>
            <a:fillRect/>
          </a:stretch>
        </p:blipFill>
        <p:spPr>
          <a:xfrm>
            <a:off x="0" y="0"/>
            <a:ext cx="10287000" cy="3619500"/>
          </a:xfrm>
          <a:prstGeom prst="rect">
            <a:avLst/>
          </a:prstGeom>
        </p:spPr>
      </p:pic>
      <p:sp>
        <p:nvSpPr>
          <p:cNvPr id="3" name="TextBox 2"/>
          <p:cNvSpPr txBox="1"/>
          <p:nvPr/>
        </p:nvSpPr>
        <p:spPr>
          <a:xfrm>
            <a:off x="609600" y="762000"/>
            <a:ext cx="8572500" cy="285750"/>
          </a:xfrm>
          <a:prstGeom prst="rect">
            <a:avLst/>
          </a:prstGeom>
          <a:noFill/>
        </p:spPr>
        <p:txBody>
          <a:bodyPr wrap="square" lIns="0" rIns="0" tIns="0" bIns="0">
            <a:spAutoFit/>
          </a:bodyPr>
          <a:lstStyle/>
          <a:p>
            <a:r>
              <a:rPr sz="1000" b="1" i="0">
                <a:solidFill>
                  <a:srgbClr val="F5F1EC"/>
                </a:solidFill>
                <a:latin typeface="PT Serif"/>
              </a:rPr>
              <a:t>33304 — APRIL 2026</a:t>
            </a:r>
          </a:p>
        </p:txBody>
      </p:sp>
      <p:sp>
        <p:nvSpPr>
          <p:cNvPr id="4" name="TextBox 3"/>
          <p:cNvSpPr txBox="1"/>
          <p:nvPr/>
        </p:nvSpPr>
        <p:spPr>
          <a:xfrm>
            <a:off x="8724900" y="4000500"/>
            <a:ext cx="952500" cy="762000"/>
          </a:xfrm>
          <a:prstGeom prst="rect">
            <a:avLst/>
          </a:prstGeom>
          <a:noFill/>
        </p:spPr>
        <p:txBody>
          <a:bodyPr wrap="square" lIns="0" rIns="0" tIns="0" bIns="0">
            <a:spAutoFit/>
          </a:bodyPr>
          <a:lstStyle/>
          <a:p>
            <a:pPr algn="r"/>
            <a:r>
              <a:rPr sz="6000" b="0" i="0">
                <a:solidFill>
                  <a:srgbClr val="C99A6C"/>
                </a:solidFill>
                <a:latin typeface="Pinyon Script"/>
              </a:rPr>
              <a:t>5</a:t>
            </a:r>
          </a:p>
        </p:txBody>
      </p:sp>
      <p:sp>
        <p:nvSpPr>
          <p:cNvPr id="5" name="TextBox 4"/>
          <p:cNvSpPr txBox="1"/>
          <p:nvPr/>
        </p:nvSpPr>
        <p:spPr>
          <a:xfrm>
            <a:off x="609600" y="4381500"/>
            <a:ext cx="5715000" cy="190500"/>
          </a:xfrm>
          <a:prstGeom prst="rect">
            <a:avLst/>
          </a:prstGeom>
          <a:noFill/>
        </p:spPr>
        <p:txBody>
          <a:bodyPr wrap="square" lIns="0" rIns="0" tIns="0" bIns="0">
            <a:spAutoFit/>
          </a:bodyPr>
          <a:lstStyle/>
          <a:p>
            <a:r>
              <a:rPr sz="900" b="1" i="0">
                <a:solidFill>
                  <a:srgbClr val="9F8E87"/>
                </a:solidFill>
                <a:latin typeface="PT Serif"/>
              </a:rPr>
              <a:t>WHAT THEY SAY</a:t>
            </a:r>
          </a:p>
        </p:txBody>
      </p:sp>
      <p:sp>
        <p:nvSpPr>
          <p:cNvPr id="6" name="TextBox 5"/>
          <p:cNvSpPr txBox="1"/>
          <p:nvPr/>
        </p:nvSpPr>
        <p:spPr>
          <a:xfrm>
            <a:off x="609600" y="4762500"/>
            <a:ext cx="9067800" cy="1905000"/>
          </a:xfrm>
          <a:prstGeom prst="rect">
            <a:avLst/>
          </a:prstGeom>
          <a:noFill/>
        </p:spPr>
        <p:txBody>
          <a:bodyPr wrap="square" lIns="0" rIns="0" tIns="0" bIns="0">
            <a:spAutoFit/>
          </a:bodyPr>
          <a:lstStyle/>
          <a:p>
            <a:pPr>
              <a:lnSpc>
                <a:spcPct val="110000"/>
              </a:lnSpc>
            </a:pPr>
            <a:r>
              <a:rPr sz="3600" b="1" i="1">
                <a:solidFill>
                  <a:srgbClr val="1C1310"/>
                </a:solidFill>
                <a:latin typeface="Playfair Display"/>
              </a:rPr>
              <a:t>"The 30-year rate is 6.48% — still too high to commit."</a:t>
            </a:r>
          </a:p>
        </p:txBody>
      </p:sp>
      <p:sp>
        <p:nvSpPr>
          <p:cNvPr id="7" name="TextBox 6"/>
          <p:cNvSpPr txBox="1"/>
          <p:nvPr/>
        </p:nvSpPr>
        <p:spPr>
          <a:xfrm>
            <a:off x="609600" y="7048500"/>
            <a:ext cx="5715000" cy="190500"/>
          </a:xfrm>
          <a:prstGeom prst="rect">
            <a:avLst/>
          </a:prstGeom>
          <a:noFill/>
        </p:spPr>
        <p:txBody>
          <a:bodyPr wrap="square" lIns="0" rIns="0" tIns="0" bIns="0">
            <a:spAutoFit/>
          </a:bodyPr>
          <a:lstStyle/>
          <a:p>
            <a:r>
              <a:rPr sz="900" b="1" i="0">
                <a:solidFill>
                  <a:srgbClr val="540918"/>
                </a:solidFill>
                <a:latin typeface="PT Serif"/>
              </a:rPr>
              <a:t>WHAT IT USUALLY MEANS</a:t>
            </a:r>
          </a:p>
        </p:txBody>
      </p:sp>
      <p:sp>
        <p:nvSpPr>
          <p:cNvPr id="8" name="TextBox 7"/>
          <p:cNvSpPr txBox="1"/>
          <p:nvPr/>
        </p:nvSpPr>
        <p:spPr>
          <a:xfrm>
            <a:off x="609600" y="7429500"/>
            <a:ext cx="9067800" cy="1905000"/>
          </a:xfrm>
          <a:prstGeom prst="rect">
            <a:avLst/>
          </a:prstGeom>
          <a:noFill/>
        </p:spPr>
        <p:txBody>
          <a:bodyPr wrap="square" lIns="0" rIns="0" tIns="0" bIns="0">
            <a:spAutoFit/>
          </a:bodyPr>
          <a:lstStyle/>
          <a:p>
            <a:pPr>
              <a:lnSpc>
                <a:spcPct val="118000"/>
              </a:lnSpc>
            </a:pPr>
            <a:r>
              <a:rPr sz="2800" b="1" i="0">
                <a:solidFill>
                  <a:srgbClr val="1C1310"/>
                </a:solidFill>
                <a:latin typeface="Playfair Display"/>
              </a:rPr>
              <a:t>It's the third consecutive weekly decline. Lowest since early 2025. Down 37 bps year-over-year.</a:t>
            </a:r>
          </a:p>
        </p:txBody>
      </p:sp>
      <p:sp>
        <p:nvSpPr>
          <p:cNvPr id="9" name="TextBox 8"/>
          <p:cNvSpPr txBox="1"/>
          <p:nvPr/>
        </p:nvSpPr>
        <p:spPr>
          <a:xfrm>
            <a:off x="609600" y="9525000"/>
            <a:ext cx="5715000" cy="190500"/>
          </a:xfrm>
          <a:prstGeom prst="rect">
            <a:avLst/>
          </a:prstGeom>
          <a:noFill/>
        </p:spPr>
        <p:txBody>
          <a:bodyPr wrap="square" lIns="0" rIns="0" tIns="0" bIns="0">
            <a:spAutoFit/>
          </a:bodyPr>
          <a:lstStyle/>
          <a:p>
            <a:r>
              <a:rPr sz="900" b="1" i="0">
                <a:solidFill>
                  <a:srgbClr val="540918"/>
                </a:solidFill>
                <a:latin typeface="PT Serif"/>
              </a:rPr>
              <a:t>HOW I'D ANSWER IT</a:t>
            </a:r>
          </a:p>
        </p:txBody>
      </p:sp>
      <p:sp>
        <p:nvSpPr>
          <p:cNvPr id="10" name="TextBox 9"/>
          <p:cNvSpPr txBox="1"/>
          <p:nvPr/>
        </p:nvSpPr>
        <p:spPr>
          <a:xfrm>
            <a:off x="609600" y="9906000"/>
            <a:ext cx="9067800" cy="2667000"/>
          </a:xfrm>
          <a:prstGeom prst="rect">
            <a:avLst/>
          </a:prstGeom>
          <a:noFill/>
        </p:spPr>
        <p:txBody>
          <a:bodyPr wrap="square" lIns="0" rIns="0" tIns="0" bIns="0">
            <a:spAutoFit/>
          </a:bodyPr>
          <a:lstStyle/>
          <a:p>
            <a:pPr>
              <a:lnSpc>
                <a:spcPct val="145000"/>
              </a:lnSpc>
            </a:pPr>
            <a:r>
              <a:rPr sz="1600" b="0" i="0">
                <a:solidFill>
                  <a:srgbClr val="1C1310"/>
                </a:solidFill>
                <a:latin typeface="PT Serif"/>
              </a:rPr>
              <a:t>30-year fixed: 6.48% as of June 2, 2026 (Freddie Mac). Down from the year-ago level by 37
basis points — on a $600K loan, that's roughly $143/month lower than buying this time last
year. In 33304, where new supply is actively compressing and pending contracts are rising, the
rate tailwind arrives at the same time the inventory floor is forming. Waiting for rates first
means competing for fewer homes later.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