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100" y="762000"/>
            <a:ext cx="38100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0" i="1">
                <a:solidFill>
                  <a:srgbClr val="540918"/>
                </a:solidFill>
                <a:latin typeface="Playfair Display"/>
              </a:rPr>
              <a:t>Laurène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15100" y="876300"/>
            <a:ext cx="29718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9F8E87"/>
                </a:solidFill>
                <a:latin typeface="Jost"/>
              </a:rPr>
              <a:t>RATES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0100" y="7524750"/>
            <a:ext cx="8686800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 i="0">
                <a:solidFill>
                  <a:srgbClr val="A8794A"/>
                </a:solidFill>
                <a:latin typeface="PT Serif"/>
              </a:rPr>
              <a:t>RATES — JUNE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100" y="7867650"/>
            <a:ext cx="419100" cy="19050"/>
          </a:xfrm>
          <a:prstGeom prst="rect">
            <a:avLst/>
          </a:prstGeom>
          <a:solidFill>
            <a:srgbClr val="5409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100" y="8096250"/>
            <a:ext cx="8686800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2000"/>
              </a:lnSpc>
            </a:pPr>
            <a:r>
              <a:rPr sz="3800" b="1" i="1">
                <a:solidFill>
                  <a:srgbClr val="1C1310"/>
                </a:solidFill>
                <a:latin typeface="Playfair Display"/>
              </a:rPr>
              <a:t>Still waiting for a </a:t>
            </a:r>
            <a:r>
              <a:rPr sz="3800" b="1" i="1">
                <a:solidFill>
                  <a:srgbClr val="540918"/>
                </a:solidFill>
                <a:latin typeface="Playfair Display"/>
              </a:rPr>
              <a:t>lower rate?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0100" y="10477500"/>
            <a:ext cx="6858000" cy="952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</a:pPr>
            <a:r>
              <a:rPr sz="1300" b="0" i="0">
                <a:solidFill>
                  <a:srgbClr val="6F6258"/>
                </a:solidFill>
                <a:latin typeface="PT Serif"/>
              </a:rPr>
              <a:t>May CPI came in at 4.2%. Mortgage rates ticked up. What buyers waiting on rate relief need to know.</a:t>
            </a:r>
          </a:p>
        </p:txBody>
      </p:sp>
      <p:sp>
        <p:nvSpPr>
          <p:cNvPr id="8" name="Rectangle 7"/>
          <p:cNvSpPr/>
          <p:nvPr/>
        </p:nvSpPr>
        <p:spPr>
          <a:xfrm>
            <a:off x="800100" y="11849100"/>
            <a:ext cx="8686800" cy="9525"/>
          </a:xfrm>
          <a:prstGeom prst="rect">
            <a:avLst/>
          </a:prstGeom>
          <a:solidFill>
            <a:srgbClr val="C9C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0100" y="12001500"/>
            <a:ext cx="5715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 i="0">
                <a:solidFill>
                  <a:srgbClr val="1C1310"/>
                </a:solidFill>
                <a:latin typeface="PT Serif"/>
              </a:rPr>
              <a:t>LAURÈNE CHÂTELAIN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15000" y="12001500"/>
            <a:ext cx="37719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9F8E87"/>
                </a:solidFill>
                <a:latin typeface="PT Serif"/>
              </a:rPr>
              <a:t>THE MPH TEAM · COMPASS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