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7620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1">
                <a:solidFill>
                  <a:srgbClr val="540918"/>
                </a:solidFill>
                <a:latin typeface="Playfair Display"/>
              </a:rPr>
              <a:t>Laurène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15100" y="87630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F8E87"/>
                </a:solidFill>
                <a:latin typeface="Jost"/>
              </a:rPr>
              <a:t>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524750"/>
            <a:ext cx="8686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8794A"/>
                </a:solidFill>
                <a:latin typeface="PT Serif"/>
              </a:rPr>
              <a:t>RATES —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7867650"/>
            <a:ext cx="4191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8096250"/>
            <a:ext cx="8686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1" i="1">
                <a:solidFill>
                  <a:srgbClr val="1C1310"/>
                </a:solidFill>
                <a:latin typeface="Playfair Display"/>
              </a:rPr>
              <a:t>The data behind that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0477500"/>
            <a:ext cx="6858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0" i="0">
                <a:solidFill>
                  <a:srgbClr val="6F6258"/>
                </a:solidFill>
                <a:latin typeface="PT Serif"/>
              </a:rPr>
              <a:t>May CPI came in at 4.2%. Mortgage rates ticked up. What buyers waiting on rate relief need to know.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1849100"/>
            <a:ext cx="8686800" cy="9525"/>
          </a:xfrm>
          <a:prstGeom prst="rect">
            <a:avLst/>
          </a:prstGeom>
          <a:solidFill>
            <a:srgbClr val="C9C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20015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C1310"/>
                </a:solidFill>
                <a:latin typeface="PT Serif"/>
              </a:rPr>
              <a:t>LAURÈNE CHÂTELAIN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2001500"/>
            <a:ext cx="3771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9F8E87"/>
                </a:solidFill>
                <a:latin typeface="PT Serif"/>
              </a:rPr>
              <a:t>THE MPH TEAM · COMPASS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