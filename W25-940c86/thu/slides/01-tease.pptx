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287000" cy="1828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1EC"/>
        </a:solidFill>
        <a:effectLst/>
      </p:bgPr>
    </p:bg>
    <p:spTree>
      <p:nvGrpSpPr>
        <p:cNvPr id="1" name=""/>
        <p:cNvGrpSpPr/>
        <p:nvPr/>
      </p:nvGrpSpPr>
      <p:grpSpPr/>
      <p:pic>
        <p:nvPicPr>
          <p:cNvPr id="2" name="Picture 1" descr="soul_262695fae89b2659.png"/>
          <p:cNvPicPr>
            <a:picLocks noChangeAspect="1"/>
          </p:cNvPicPr>
          <p:nvPr/>
        </p:nvPicPr>
        <p:blipFill>
          <a:blip r:embed="rId2"/>
          <a:stretch>
            <a:fillRect/>
          </a:stretch>
        </p:blipFill>
        <p:spPr>
          <a:xfrm>
            <a:off x="0" y="0"/>
            <a:ext cx="10287000" cy="10477500"/>
          </a:xfrm>
          <a:prstGeom prst="rect">
            <a:avLst/>
          </a:prstGeom>
        </p:spPr>
      </p:pic>
      <p:sp>
        <p:nvSpPr>
          <p:cNvPr id="3" name="TextBox 2"/>
          <p:cNvSpPr txBox="1"/>
          <p:nvPr/>
        </p:nvSpPr>
        <p:spPr>
          <a:xfrm>
            <a:off x="762000" y="762000"/>
            <a:ext cx="8572500" cy="285750"/>
          </a:xfrm>
          <a:prstGeom prst="rect">
            <a:avLst/>
          </a:prstGeom>
          <a:noFill/>
        </p:spPr>
        <p:txBody>
          <a:bodyPr wrap="square" lIns="0" rIns="0" tIns="0" bIns="0">
            <a:spAutoFit/>
          </a:bodyPr>
          <a:lstStyle/>
          <a:p>
            <a:r>
              <a:rPr sz="1000" b="1" i="0">
                <a:solidFill>
                  <a:srgbClr val="F5F1EC"/>
                </a:solidFill>
                <a:latin typeface="PT Serif"/>
              </a:rPr>
              <a:t>VICTORIA PARK</a:t>
            </a:r>
          </a:p>
        </p:txBody>
      </p:sp>
      <p:sp>
        <p:nvSpPr>
          <p:cNvPr id="4" name="TextBox 3"/>
          <p:cNvSpPr txBox="1"/>
          <p:nvPr/>
        </p:nvSpPr>
        <p:spPr>
          <a:xfrm>
            <a:off x="762000" y="8572500"/>
            <a:ext cx="8763000" cy="1143000"/>
          </a:xfrm>
          <a:prstGeom prst="rect">
            <a:avLst/>
          </a:prstGeom>
          <a:noFill/>
        </p:spPr>
        <p:txBody>
          <a:bodyPr wrap="square" lIns="0" rIns="0" tIns="0" bIns="0">
            <a:spAutoFit/>
          </a:bodyPr>
          <a:lstStyle/>
          <a:p>
            <a:pPr>
              <a:lnSpc>
                <a:spcPct val="105000"/>
              </a:lnSpc>
            </a:pPr>
            <a:r>
              <a:rPr sz="4800" b="1" i="0">
                <a:solidFill>
                  <a:srgbClr val="F5F1EC"/>
                </a:solidFill>
                <a:latin typeface="Playfair Display"/>
              </a:rPr>
              <a:t>903 NE 5th Ave</a:t>
            </a:r>
          </a:p>
        </p:txBody>
      </p:sp>
      <p:sp>
        <p:nvSpPr>
          <p:cNvPr id="5" name="Rectangle 4"/>
          <p:cNvSpPr/>
          <p:nvPr/>
        </p:nvSpPr>
        <p:spPr>
          <a:xfrm>
            <a:off x="0" y="10477500"/>
            <a:ext cx="10287000" cy="19050"/>
          </a:xfrm>
          <a:prstGeom prst="rect">
            <a:avLst/>
          </a:prstGeom>
          <a:solidFill>
            <a:srgbClr val="A879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2000" y="11239500"/>
            <a:ext cx="8763000" cy="2476500"/>
          </a:xfrm>
          <a:prstGeom prst="rect">
            <a:avLst/>
          </a:prstGeom>
          <a:noFill/>
        </p:spPr>
        <p:txBody>
          <a:bodyPr wrap="square" lIns="0" rIns="0" tIns="0" bIns="0">
            <a:spAutoFit/>
          </a:bodyPr>
          <a:lstStyle/>
          <a:p>
            <a:pPr>
              <a:lnSpc>
                <a:spcPct val="105000"/>
              </a:lnSpc>
            </a:pPr>
            <a:r>
              <a:rPr sz="4000" b="1" i="1">
                <a:solidFill>
                  <a:srgbClr val="1C1310"/>
                </a:solidFill>
                <a:latin typeface="Playfair Display"/>
              </a:rPr>
              <a:t>The house on NE 5th Ave has been converted. The sign is small. The waitlist isn't.</a:t>
            </a:r>
          </a:p>
        </p:txBody>
      </p:sp>
      <p:sp>
        <p:nvSpPr>
          <p:cNvPr id="7" name="TextBox 6"/>
          <p:cNvSpPr txBox="1"/>
          <p:nvPr/>
        </p:nvSpPr>
        <p:spPr>
          <a:xfrm>
            <a:off x="762000" y="13906500"/>
            <a:ext cx="8763000" cy="3048000"/>
          </a:xfrm>
          <a:prstGeom prst="rect">
            <a:avLst/>
          </a:prstGeom>
          <a:noFill/>
        </p:spPr>
        <p:txBody>
          <a:bodyPr wrap="square" lIns="0" rIns="0" tIns="0" bIns="0">
            <a:spAutoFit/>
          </a:bodyPr>
          <a:lstStyle/>
          <a:p>
            <a:pPr>
              <a:lnSpc>
                <a:spcPct val="150000"/>
              </a:lnSpc>
            </a:pPr>
            <a:r>
              <a:rPr sz="1600" b="0" i="0">
                <a:solidFill>
                  <a:srgbClr val="1C1310"/>
                </a:solidFill>
                <a:latin typeface="PT Serif"/>
              </a:rPr>
              <a:t>Heritage sits in a residential block of Victoria Park — a converted house that opens its doors for dinner and fills almost every night. Michelin Bib Gourmand. The kind of place that answers the question 'what's actually here to eat?' in the neighborhood buyers are evaluating.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