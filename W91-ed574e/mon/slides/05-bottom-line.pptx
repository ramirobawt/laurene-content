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76300" y="2857500"/>
            <a:ext cx="8534400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A8794A"/>
                </a:solidFill>
                <a:latin typeface="PT Serif"/>
              </a:rPr>
              <a:t>THE BOTTOM 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876300" y="3333750"/>
            <a:ext cx="457200" cy="19050"/>
          </a:xfrm>
          <a:prstGeom prst="rect">
            <a:avLst/>
          </a:prstGeom>
          <a:solidFill>
            <a:srgbClr val="5409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76300" y="3619500"/>
            <a:ext cx="8534400" cy="2095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</a:pPr>
            <a:r>
              <a:rPr sz="3000" b="1" i="0">
                <a:solidFill>
                  <a:srgbClr val="1C1310"/>
                </a:solidFill>
                <a:latin typeface="Playfair Display"/>
              </a:rPr>
              <a:t>When rates fall and supply also falls, waiting trades monthly payment improvement for fewer choices.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6300" y="5905500"/>
            <a:ext cx="742950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5000"/>
              </a:lnSpc>
            </a:pPr>
            <a:r>
              <a:rPr sz="1300" b="0" i="0">
                <a:solidFill>
                  <a:srgbClr val="4A3D35"/>
                </a:solidFill>
                <a:latin typeface="PT Serif"/>
              </a:rPr>
              <a:t>Most buyers are only watching one of these. Both matter.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6300" y="8382000"/>
            <a:ext cx="7239000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500" b="0" i="1">
                <a:solidFill>
                  <a:srgbClr val="540918"/>
                </a:solidFill>
                <a:latin typeface="Playfair Display"/>
              </a:rPr>
              <a:t>Which one changes your calculation?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6300" y="9906000"/>
            <a:ext cx="3810000" cy="666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0" i="0">
                <a:solidFill>
                  <a:srgbClr val="C99A6C"/>
                </a:solidFill>
                <a:latin typeface="Pinyon Script"/>
              </a:rPr>
              <a:t>— Laurène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