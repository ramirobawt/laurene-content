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6300" y="2857500"/>
            <a:ext cx="85344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A8794A"/>
                </a:solidFill>
                <a:latin typeface="PT Serif"/>
              </a:rPr>
              <a:t>THE BOTTOM 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876300" y="3333750"/>
            <a:ext cx="457200" cy="19050"/>
          </a:xfrm>
          <a:prstGeom prst="rect">
            <a:avLst/>
          </a:prstGeom>
          <a:solidFill>
            <a:srgbClr val="5409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6300" y="3619500"/>
            <a:ext cx="8534400" cy="209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3000" b="1" i="0">
                <a:solidFill>
                  <a:srgbClr val="1C1310"/>
                </a:solidFill>
                <a:latin typeface="Playfair Display"/>
              </a:rPr>
              <a:t>Buyers are closing 4.6–6.4% below asking.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" y="8382000"/>
            <a:ext cx="72390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0" i="1">
                <a:solidFill>
                  <a:srgbClr val="540918"/>
                </a:solidFill>
                <a:latin typeface="Playfair Display"/>
              </a:rPr>
              <a:t>Which of these changes your read on the market?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9906000"/>
            <a:ext cx="38100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0" i="0">
                <a:solidFill>
                  <a:srgbClr val="C99A6C"/>
                </a:solidFill>
                <a:latin typeface="Pinyon Script"/>
              </a:rPr>
              <a:t>— Laurène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